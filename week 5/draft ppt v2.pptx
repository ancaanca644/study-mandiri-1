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70" r:id="rId6"/>
    <p:sldId id="271" r:id="rId7"/>
    <p:sldId id="272" r:id="rId8"/>
    <p:sldId id="273" r:id="rId9"/>
    <p:sldId id="274" r:id="rId10"/>
    <p:sldId id="280" r:id="rId11"/>
    <p:sldId id="279" r:id="rId12"/>
  </p:sldIdLst>
  <p:sldSz cx="12192000" cy="6858000"/>
  <p:notesSz cx="6858000" cy="9144000"/>
  <p:embeddedFontLst>
    <p:embeddedFont>
      <p:font typeface="Inter"/>
      <p:bold r:id="rId13"/>
      <p:italic r:id="rId14"/>
    </p:embeddedFont>
    <p:embeddedFont>
      <p:font typeface="Lora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0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pp12104829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0596DC6-41F1-2C2C-68B0-3177B4F187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15244" r="54063"/>
          <a:stretch>
            <a:fillRect/>
          </a:stretch>
        </p:blipFill>
        <p:spPr>
          <a:xfrm>
            <a:off x="8449881" y="0"/>
            <a:ext cx="374211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2000" y="837501"/>
            <a:ext cx="5715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847034"/>
            <a:ext cx="106680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847034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180401"/>
            <a:ext cx="109658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94A3B8"/>
                </a:solidFill>
                <a:latin typeface="Inter"/>
              </a:rPr>
              <a:t>STUDI MANDIRI I</a:t>
            </a:r>
            <a:endParaRPr sz="1200" b="1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5369" y="1725394"/>
            <a:ext cx="10101262" cy="2492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400" b="1" i="1" u="none" dirty="0">
                <a:solidFill>
                  <a:srgbClr val="F8FAFC"/>
                </a:solidFill>
                <a:latin typeface="Aptos" panose="020B0004020202020204" pitchFamily="34" charset="0"/>
              </a:rPr>
              <a:t>Magnetic</a:t>
            </a:r>
          </a:p>
          <a:p>
            <a:pPr algn="l"/>
            <a:r>
              <a:rPr lang="en-US" sz="5400" b="1" i="1" u="none" dirty="0">
                <a:solidFill>
                  <a:srgbClr val="F8FAFC"/>
                </a:solidFill>
                <a:latin typeface="Aptos" panose="020B0004020202020204" pitchFamily="34" charset="0"/>
              </a:rPr>
              <a:t>Flux </a:t>
            </a:r>
          </a:p>
          <a:p>
            <a:pPr algn="l"/>
            <a:r>
              <a:rPr lang="en-US" sz="5400" b="1" i="1" u="none" dirty="0">
                <a:solidFill>
                  <a:srgbClr val="F8FAFC"/>
                </a:solidFill>
                <a:latin typeface="Aptos" panose="020B0004020202020204" pitchFamily="34" charset="0"/>
              </a:rPr>
              <a:t>Leakage</a:t>
            </a:r>
            <a:r>
              <a:rPr lang="en-US" sz="5400" b="1" i="0" u="none" dirty="0">
                <a:solidFill>
                  <a:srgbClr val="F8FAFC"/>
                </a:solidFill>
                <a:latin typeface="Aptos" panose="020B0004020202020204" pitchFamily="34" charset="0"/>
              </a:rPr>
              <a:t> (MFL)</a:t>
            </a:r>
            <a:endParaRPr sz="5400" b="1" i="0" u="none" dirty="0">
              <a:solidFill>
                <a:srgbClr val="F8FAFC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5085159"/>
            <a:ext cx="55143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</a:rPr>
              <a:t>20226008</a:t>
            </a:r>
            <a:endParaRPr sz="105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5285184"/>
            <a:ext cx="91807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F8FAFC"/>
                </a:solidFill>
                <a:latin typeface="Inter"/>
              </a:rPr>
              <a:t>Rahmansyah</a:t>
            </a:r>
            <a:endParaRPr sz="135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91300" y="5085159"/>
            <a:ext cx="27741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94A3B8"/>
                </a:solidFill>
                <a:latin typeface="Inter"/>
              </a:rPr>
              <a:t>Institusi</a:t>
            </a:r>
            <a:endParaRPr sz="105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91300" y="5285184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F8FAFC"/>
                </a:solidFill>
                <a:latin typeface="Inter"/>
              </a:rPr>
              <a:t>Institut</a:t>
            </a:r>
            <a:r>
              <a:rPr sz="135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Inter"/>
              </a:rPr>
              <a:t>Teknologi</a:t>
            </a:r>
            <a:r>
              <a:rPr sz="1350" b="1" i="0" u="none" dirty="0">
                <a:solidFill>
                  <a:srgbClr val="F8FAFC"/>
                </a:solidFill>
                <a:latin typeface="Inter"/>
              </a:rPr>
              <a:t> Bandung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6057900"/>
            <a:ext cx="5334000" cy="800100"/>
          </a:xfrm>
          <a:prstGeom prst="rect">
            <a:avLst/>
          </a:prstGeom>
          <a:solidFill>
            <a:srgbClr val="2D2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30EF91-9399-44BB-F75C-49A2763134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50" r="31800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519237"/>
            <a:ext cx="8832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EA580C"/>
                </a:solidFill>
                <a:latin typeface="Inter"/>
              </a:rPr>
              <a:t>INTRODUCTION</a:t>
            </a:r>
            <a:endParaRPr sz="1050" b="1" i="0" u="none" dirty="0">
              <a:solidFill>
                <a:srgbClr val="EA580C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1943290"/>
            <a:ext cx="570071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0F172A"/>
                </a:solidFill>
                <a:latin typeface="Lora"/>
              </a:rPr>
              <a:t>Apa </a:t>
            </a:r>
            <a:r>
              <a:rPr lang="en-US" sz="3000" b="1" dirty="0" err="1">
                <a:solidFill>
                  <a:srgbClr val="0F172A"/>
                </a:solidFill>
                <a:latin typeface="Lora"/>
              </a:rPr>
              <a:t>itu</a:t>
            </a:r>
            <a:r>
              <a:rPr lang="en-US" sz="3000" b="1" dirty="0">
                <a:solidFill>
                  <a:srgbClr val="0F172A"/>
                </a:solidFill>
                <a:latin typeface="Lora"/>
              </a:rPr>
              <a:t> MFL?</a:t>
            </a:r>
            <a:endParaRPr sz="3000" b="1" i="0" u="none" dirty="0">
              <a:solidFill>
                <a:srgbClr val="0F172A"/>
              </a:solidFill>
              <a:latin typeface="Lor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3052762"/>
            <a:ext cx="5429250" cy="115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475569"/>
                </a:solidFill>
                <a:latin typeface="Inter"/>
              </a:rPr>
              <a:t>An nondestructive testing (NDT) method with high efficiency and reliability.</a:t>
            </a:r>
          </a:p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475569"/>
                </a:solidFill>
                <a:latin typeface="Inter"/>
              </a:rPr>
              <a:t>It has the ability to detect various types of defects  (both surface and subsurface defects).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1700" y="636270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 i="1" u="none" dirty="0">
                <a:solidFill>
                  <a:srgbClr val="FFFFFF"/>
                </a:solidFill>
                <a:latin typeface="Inter"/>
              </a:rPr>
              <a:t>Model </a:t>
            </a:r>
            <a:r>
              <a:rPr sz="1200" b="0" i="1" u="none" dirty="0" err="1">
                <a:solidFill>
                  <a:srgbClr val="FFFFFF"/>
                </a:solidFill>
                <a:latin typeface="Inter"/>
              </a:rPr>
              <a:t>Organisme</a:t>
            </a:r>
            <a:r>
              <a:rPr sz="1200" b="0" i="1" u="none" dirty="0">
                <a:solidFill>
                  <a:srgbClr val="FFFFFF"/>
                </a:solidFill>
                <a:latin typeface="Inter"/>
              </a:rPr>
              <a:t>: Solanum </a:t>
            </a:r>
            <a:r>
              <a:rPr sz="1200" b="0" i="1" u="none" dirty="0" err="1">
                <a:solidFill>
                  <a:srgbClr val="FFFFFF"/>
                </a:solidFill>
                <a:latin typeface="Inter"/>
              </a:rPr>
              <a:t>lycopersicum</a:t>
            </a:r>
            <a:endParaRPr sz="1200" b="0" i="1" u="none" dirty="0">
              <a:solidFill>
                <a:srgbClr val="FFFFF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7697E-C0AE-3134-EC46-FF78AAFCE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59542-E04B-740F-0563-6DBF1D350E41}"/>
              </a:ext>
            </a:extLst>
          </p:cNvPr>
          <p:cNvSpPr/>
          <p:nvPr/>
        </p:nvSpPr>
        <p:spPr>
          <a:xfrm>
            <a:off x="6000750" y="2497574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8056B-57E9-7F0D-C90D-21DF320687B7}"/>
              </a:ext>
            </a:extLst>
          </p:cNvPr>
          <p:cNvSpPr/>
          <p:nvPr/>
        </p:nvSpPr>
        <p:spPr>
          <a:xfrm>
            <a:off x="6000750" y="3831074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79064-E360-8D38-9630-82572D9F8E1C}"/>
              </a:ext>
            </a:extLst>
          </p:cNvPr>
          <p:cNvSpPr txBox="1"/>
          <p:nvPr/>
        </p:nvSpPr>
        <p:spPr>
          <a:xfrm>
            <a:off x="6096000" y="375666"/>
            <a:ext cx="8832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i="0" u="none" dirty="0">
                <a:solidFill>
                  <a:srgbClr val="EA580C"/>
                </a:solidFill>
                <a:latin typeface="Inter"/>
              </a:rPr>
              <a:t>INTRODUCTION</a:t>
            </a:r>
            <a:endParaRPr sz="1050" b="1" i="0" u="none" dirty="0">
              <a:solidFill>
                <a:srgbClr val="EA580C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D559D-FF66-4337-5480-7D246D51AEE2}"/>
              </a:ext>
            </a:extLst>
          </p:cNvPr>
          <p:cNvSpPr txBox="1"/>
          <p:nvPr/>
        </p:nvSpPr>
        <p:spPr>
          <a:xfrm>
            <a:off x="6096000" y="689991"/>
            <a:ext cx="570071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i="0" u="none" dirty="0">
                <a:solidFill>
                  <a:srgbClr val="0F172A"/>
                </a:solidFill>
                <a:latin typeface="Lora"/>
              </a:rPr>
              <a:t>MFL </a:t>
            </a:r>
            <a:r>
              <a:rPr lang="en-US" sz="3000" b="1" u="none" dirty="0">
                <a:solidFill>
                  <a:srgbClr val="0F172A"/>
                </a:solidFill>
                <a:latin typeface="Lora"/>
              </a:rPr>
              <a:t>Principle [1]</a:t>
            </a:r>
            <a:endParaRPr sz="3000" b="1" u="none" dirty="0">
              <a:solidFill>
                <a:srgbClr val="0F172A"/>
              </a:solidFill>
              <a:latin typeface="Lor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AF2F4-55DB-C245-84BF-DBC2AD089143}"/>
              </a:ext>
            </a:extLst>
          </p:cNvPr>
          <p:cNvSpPr txBox="1"/>
          <p:nvPr/>
        </p:nvSpPr>
        <p:spPr>
          <a:xfrm>
            <a:off x="6000750" y="1478399"/>
            <a:ext cx="371576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B213F"/>
                </a:solidFill>
                <a:latin typeface="Lora"/>
              </a:rPr>
              <a:t>1. </a:t>
            </a:r>
            <a:r>
              <a:rPr lang="en-US" sz="1500" b="1" i="0" u="none" dirty="0" err="1">
                <a:solidFill>
                  <a:srgbClr val="0B213F"/>
                </a:solidFill>
                <a:latin typeface="Lora"/>
              </a:rPr>
              <a:t>Magnetisasi</a:t>
            </a:r>
            <a:r>
              <a:rPr lang="en-US" sz="1500" b="1" i="0" u="none" dirty="0">
                <a:solidFill>
                  <a:srgbClr val="0B213F"/>
                </a:solidFill>
                <a:latin typeface="Lora"/>
              </a:rPr>
              <a:t> material (near saturation)</a:t>
            </a:r>
            <a:endParaRPr sz="1500" b="1" i="0" u="none" dirty="0">
              <a:solidFill>
                <a:srgbClr val="0B213F"/>
              </a:solidFill>
              <a:latin typeface="Lor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4682D-84C1-A2F1-750C-EACC67175FBB}"/>
              </a:ext>
            </a:extLst>
          </p:cNvPr>
          <p:cNvSpPr txBox="1"/>
          <p:nvPr/>
        </p:nvSpPr>
        <p:spPr>
          <a:xfrm>
            <a:off x="6000750" y="1792724"/>
            <a:ext cx="54292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Menggunakan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magnetizer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untuk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membanjiri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spesimen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feromagnetik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dengan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medan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magnet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hingga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mendekati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titik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jenuh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(</a:t>
            </a:r>
            <a:r>
              <a:rPr lang="en-ID" sz="1350" b="0" i="1" u="none" dirty="0">
                <a:solidFill>
                  <a:srgbClr val="475569"/>
                </a:solidFill>
                <a:latin typeface="Inter"/>
              </a:rPr>
              <a:t>near saturation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).</a:t>
            </a:r>
            <a:endParaRPr sz="135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A1C1C-6BE8-0BE4-19EF-F424656AF938}"/>
              </a:ext>
            </a:extLst>
          </p:cNvPr>
          <p:cNvSpPr txBox="1"/>
          <p:nvPr/>
        </p:nvSpPr>
        <p:spPr>
          <a:xfrm>
            <a:off x="6000750" y="2811899"/>
            <a:ext cx="274113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B213F"/>
                </a:solidFill>
                <a:latin typeface="Lora"/>
              </a:rPr>
              <a:t>2. </a:t>
            </a:r>
            <a:r>
              <a:rPr lang="en-US" sz="1500" b="1" i="0" u="none" dirty="0" err="1">
                <a:solidFill>
                  <a:srgbClr val="0B213F"/>
                </a:solidFill>
                <a:latin typeface="Lora"/>
              </a:rPr>
              <a:t>Kondisi</a:t>
            </a:r>
            <a:r>
              <a:rPr lang="en-US" sz="1500" b="1" i="0" u="none" dirty="0">
                <a:solidFill>
                  <a:srgbClr val="0B213F"/>
                </a:solidFill>
                <a:latin typeface="Lora"/>
              </a:rPr>
              <a:t> normal </a:t>
            </a:r>
            <a:r>
              <a:rPr lang="en-US" sz="1500" b="1" i="0" u="none" dirty="0" err="1">
                <a:solidFill>
                  <a:srgbClr val="0B213F"/>
                </a:solidFill>
                <a:latin typeface="Lora"/>
              </a:rPr>
              <a:t>tanpa</a:t>
            </a:r>
            <a:r>
              <a:rPr lang="en-US" sz="1500" b="1" i="0" u="none" dirty="0">
                <a:solidFill>
                  <a:srgbClr val="0B213F"/>
                </a:solidFill>
                <a:latin typeface="Lora"/>
              </a:rPr>
              <a:t> </a:t>
            </a:r>
            <a:r>
              <a:rPr lang="en-US" sz="1500" b="1" i="0" u="none" dirty="0" err="1">
                <a:solidFill>
                  <a:srgbClr val="0B213F"/>
                </a:solidFill>
                <a:latin typeface="Lora"/>
              </a:rPr>
              <a:t>defek</a:t>
            </a:r>
            <a:endParaRPr sz="1500" b="1" i="0" u="none" dirty="0">
              <a:solidFill>
                <a:srgbClr val="0B213F"/>
              </a:solidFill>
              <a:latin typeface="Lor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8DA330-8748-85B3-A853-B7C76B5A3658}"/>
              </a:ext>
            </a:extLst>
          </p:cNvPr>
          <p:cNvSpPr txBox="1"/>
          <p:nvPr/>
        </p:nvSpPr>
        <p:spPr>
          <a:xfrm>
            <a:off x="6000750" y="3126224"/>
            <a:ext cx="542925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sv-SE" sz="1350" b="0" i="0" u="none" dirty="0">
                <a:solidFill>
                  <a:srgbClr val="475569"/>
                </a:solidFill>
                <a:latin typeface="Inter"/>
              </a:rPr>
              <a:t>Karena material (logam) memiliki permeabilitas tinggi (</a:t>
            </a:r>
            <a:r>
              <a:rPr lang="sv-SE" sz="1350" b="0" i="1" u="none" dirty="0">
                <a:solidFill>
                  <a:srgbClr val="475569"/>
                </a:solidFill>
                <a:latin typeface="Inter"/>
              </a:rPr>
              <a:t>high permeability</a:t>
            </a:r>
            <a:r>
              <a:rPr lang="sv-SE" sz="1350" b="0" i="0" u="none" dirty="0">
                <a:solidFill>
                  <a:srgbClr val="475569"/>
                </a:solidFill>
                <a:latin typeface="Inter"/>
              </a:rPr>
              <a:t>), seluruh aliran magnet (</a:t>
            </a:r>
            <a:r>
              <a:rPr lang="sv-SE" sz="1350" b="0" i="1" u="none" dirty="0">
                <a:solidFill>
                  <a:srgbClr val="475569"/>
                </a:solidFill>
                <a:latin typeface="Inter"/>
              </a:rPr>
              <a:t>magnetic flux</a:t>
            </a:r>
            <a:r>
              <a:rPr lang="sv-SE" sz="1350" b="0" i="0" u="none" dirty="0">
                <a:solidFill>
                  <a:srgbClr val="475569"/>
                </a:solidFill>
                <a:latin typeface="Inter"/>
              </a:rPr>
              <a:t>) terkurung dan mengalir lancar di dalam material.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8FB25-8BC3-E648-9A43-FBFB2E8D9028}"/>
              </a:ext>
            </a:extLst>
          </p:cNvPr>
          <p:cNvSpPr txBox="1"/>
          <p:nvPr/>
        </p:nvSpPr>
        <p:spPr>
          <a:xfrm>
            <a:off x="6000750" y="4145399"/>
            <a:ext cx="225863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3. </a:t>
            </a:r>
            <a:r>
              <a:rPr lang="en-ID" sz="1500" b="1" i="0" u="none" dirty="0" err="1">
                <a:solidFill>
                  <a:srgbClr val="0B213F"/>
                </a:solidFill>
                <a:latin typeface="Lora"/>
              </a:rPr>
              <a:t>Kondisi</a:t>
            </a:r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 </a:t>
            </a:r>
            <a:r>
              <a:rPr lang="en-ID" sz="1500" b="1" i="0" u="none" dirty="0" err="1">
                <a:solidFill>
                  <a:srgbClr val="0B213F"/>
                </a:solidFill>
                <a:latin typeface="Lora"/>
              </a:rPr>
              <a:t>saat</a:t>
            </a:r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 </a:t>
            </a:r>
            <a:r>
              <a:rPr lang="en-ID" sz="1500" b="1" i="0" u="none" dirty="0" err="1">
                <a:solidFill>
                  <a:srgbClr val="0B213F"/>
                </a:solidFill>
                <a:latin typeface="Lora"/>
              </a:rPr>
              <a:t>ada</a:t>
            </a:r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 </a:t>
            </a:r>
            <a:r>
              <a:rPr lang="en-ID" sz="1500" b="1" i="0" u="none" dirty="0" err="1">
                <a:solidFill>
                  <a:srgbClr val="0B213F"/>
                </a:solidFill>
                <a:latin typeface="Lora"/>
              </a:rPr>
              <a:t>defek</a:t>
            </a:r>
            <a:endParaRPr sz="1500" b="1" i="0" u="none" dirty="0">
              <a:solidFill>
                <a:srgbClr val="0B213F"/>
              </a:solidFill>
              <a:latin typeface="Lor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CAAF2A-CE19-139A-740F-BA63F388AD06}"/>
              </a:ext>
            </a:extLst>
          </p:cNvPr>
          <p:cNvSpPr txBox="1"/>
          <p:nvPr/>
        </p:nvSpPr>
        <p:spPr>
          <a:xfrm>
            <a:off x="6000750" y="4459724"/>
            <a:ext cx="54292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sv-SE" sz="1350" b="0" i="0" u="none" dirty="0">
                <a:solidFill>
                  <a:srgbClr val="475569"/>
                </a:solidFill>
                <a:latin typeface="Inter"/>
              </a:rPr>
              <a:t>Cacat pada material menghalangi jalur aliran magnet. Medan magnet terpaksa melompat keluar ke udara di sekitar area cacat.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D1AE910E-C063-08B0-1D34-B0E8ED45A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63B0D26-FE22-9E6B-C7F5-130EF2263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41" y="478321"/>
            <a:ext cx="3960000" cy="24285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AF1D792-5890-455E-8E80-48C17D6C3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41" y="3083986"/>
            <a:ext cx="3960000" cy="24759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BBC9BDE-EEA8-7B17-6590-FD5D6E85FF73}"/>
              </a:ext>
            </a:extLst>
          </p:cNvPr>
          <p:cNvSpPr txBox="1"/>
          <p:nvPr/>
        </p:nvSpPr>
        <p:spPr>
          <a:xfrm>
            <a:off x="6000750" y="5180022"/>
            <a:ext cx="270747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D" sz="1500" b="1" dirty="0">
                <a:solidFill>
                  <a:srgbClr val="0B213F"/>
                </a:solidFill>
                <a:latin typeface="Lora"/>
              </a:rPr>
              <a:t>4</a:t>
            </a:r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. </a:t>
            </a:r>
            <a:r>
              <a:rPr lang="en-ID" sz="1500" b="1" i="0" u="none" dirty="0" err="1">
                <a:solidFill>
                  <a:srgbClr val="0B213F"/>
                </a:solidFill>
                <a:latin typeface="Lora"/>
              </a:rPr>
              <a:t>Terbentuknya</a:t>
            </a:r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 </a:t>
            </a:r>
            <a:r>
              <a:rPr lang="en-ID" sz="1500" b="1" i="1" u="none" dirty="0">
                <a:solidFill>
                  <a:srgbClr val="0B213F"/>
                </a:solidFill>
                <a:latin typeface="Lora"/>
              </a:rPr>
              <a:t>leakage field</a:t>
            </a:r>
            <a:endParaRPr sz="1500" b="1" i="1" u="none" dirty="0">
              <a:solidFill>
                <a:srgbClr val="0B213F"/>
              </a:solidFill>
              <a:latin typeface="Lor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43E8EB-1531-5964-B1A9-5767C3E2E828}"/>
              </a:ext>
            </a:extLst>
          </p:cNvPr>
          <p:cNvSpPr txBox="1"/>
          <p:nvPr/>
        </p:nvSpPr>
        <p:spPr>
          <a:xfrm>
            <a:off x="6000750" y="5494347"/>
            <a:ext cx="542925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sv-SE" sz="1350" dirty="0">
                <a:solidFill>
                  <a:srgbClr val="475569"/>
                </a:solidFill>
                <a:latin typeface="Inter"/>
              </a:rPr>
              <a:t>Lompatan aliran magnet ke udara tersebut menciptakan Medan Bocoran (Leakage Field) yang nantinya dideteksi oleh sensor untuk menentukan letak cacat.</a:t>
            </a:r>
            <a:endParaRPr lang="sv-SE" sz="135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8053E5-0438-221A-14C1-AFC579B995EF}"/>
              </a:ext>
            </a:extLst>
          </p:cNvPr>
          <p:cNvSpPr txBox="1"/>
          <p:nvPr/>
        </p:nvSpPr>
        <p:spPr>
          <a:xfrm>
            <a:off x="0" y="6304927"/>
            <a:ext cx="533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1000" dirty="0"/>
              <a:t>[1] Feng B, Wu J, Tu H, Tang J, Kang Y. A Review of Magnetic Flux Leakage </a:t>
            </a:r>
            <a:r>
              <a:rPr lang="en-ID" sz="1000" dirty="0" err="1"/>
              <a:t>Nondestructive</a:t>
            </a:r>
            <a:r>
              <a:rPr lang="en-ID" sz="1000" dirty="0"/>
              <a:t> Testing. Materials (Basel). 2022 Oct 20;15(20):7362. </a:t>
            </a:r>
            <a:r>
              <a:rPr lang="en-ID" sz="1000" dirty="0" err="1"/>
              <a:t>doi</a:t>
            </a:r>
            <a:r>
              <a:rPr lang="en-ID" sz="1000" dirty="0"/>
              <a:t>: 10.3390/ma15207362. PMID: 36295427; PMCID: PMC9610001.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8C375B-30F2-14DB-6599-65502B0888AE}"/>
              </a:ext>
            </a:extLst>
          </p:cNvPr>
          <p:cNvSpPr txBox="1"/>
          <p:nvPr/>
        </p:nvSpPr>
        <p:spPr>
          <a:xfrm>
            <a:off x="3595" y="5620216"/>
            <a:ext cx="5556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Figure 1. </a:t>
            </a:r>
            <a:r>
              <a:rPr lang="en-US" sz="1000" dirty="0"/>
              <a:t>Basic principle of MFL testing: (</a:t>
            </a:r>
            <a:r>
              <a:rPr lang="en-US" sz="1000" b="1" dirty="0"/>
              <a:t>a</a:t>
            </a:r>
            <a:r>
              <a:rPr lang="en-US" sz="1000" dirty="0"/>
              <a:t>) yoke-type magnetizer; (</a:t>
            </a:r>
            <a:r>
              <a:rPr lang="en-US" sz="1000" b="1" dirty="0"/>
              <a:t>b</a:t>
            </a:r>
            <a:r>
              <a:rPr lang="en-US" sz="1000" dirty="0"/>
              <a:t>) encircling coil-type magnetizer. [1]</a:t>
            </a:r>
            <a:endParaRPr lang="en-ID" sz="1000" dirty="0"/>
          </a:p>
        </p:txBody>
      </p:sp>
    </p:spTree>
    <p:extLst>
      <p:ext uri="{BB962C8B-B14F-4D97-AF65-F5344CB8AC3E}">
        <p14:creationId xmlns:p14="http://schemas.microsoft.com/office/powerpoint/2010/main" val="1922289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FA580-BD30-74EA-2A3D-46D6C56C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3EDAA4-6696-1A9F-0399-889E4FE46C0B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5C938-6922-A371-F905-E8D12395EECF}"/>
              </a:ext>
            </a:extLst>
          </p:cNvPr>
          <p:cNvSpPr txBox="1"/>
          <p:nvPr/>
        </p:nvSpPr>
        <p:spPr>
          <a:xfrm>
            <a:off x="762000" y="923925"/>
            <a:ext cx="714458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Model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Matematis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: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Zatsepin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&amp; Shcherbinin</a:t>
            </a:r>
            <a:endParaRPr sz="2700" b="1" i="0" u="none" dirty="0">
              <a:solidFill>
                <a:srgbClr val="0F172A"/>
              </a:solidFill>
              <a:latin typeface="Lor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CDDC9D-26AA-A125-4B1F-7D747C99452A}"/>
              </a:ext>
            </a:extLst>
          </p:cNvPr>
          <p:cNvSpPr txBox="1"/>
          <p:nvPr/>
        </p:nvSpPr>
        <p:spPr>
          <a:xfrm>
            <a:off x="762000" y="1449585"/>
            <a:ext cx="77152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Model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matematis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ini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meninjau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hubungan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variable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fisis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dalam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MFL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ketika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sistem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dalam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keadaan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statis. Model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ini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meninjau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defek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atau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retakan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dengan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bentuk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1" u="none" dirty="0">
                <a:solidFill>
                  <a:srgbClr val="475569"/>
                </a:solidFill>
                <a:latin typeface="Inter"/>
              </a:rPr>
              <a:t>rectangle</a:t>
            </a:r>
            <a:r>
              <a:rPr lang="en-US" sz="1500" b="0" u="none" dirty="0">
                <a:solidFill>
                  <a:srgbClr val="475569"/>
                </a:solidFill>
                <a:latin typeface="Inter"/>
              </a:rPr>
              <a:t>.</a:t>
            </a:r>
            <a:endParaRPr sz="1500" b="0" i="1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28FCEBD-D2CB-2891-E3BE-A094A897B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284" y="2203169"/>
            <a:ext cx="5471432" cy="2222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7C453C7-4A67-635F-DC37-E80C9172E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836" y="4489016"/>
            <a:ext cx="6123223" cy="196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24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305A8-7797-05DC-FDF7-BE96A121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5BEDA2-ED35-596B-0090-A70CB82D2C01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C836F-2028-7B5E-CB39-EF4437424E54}"/>
              </a:ext>
            </a:extLst>
          </p:cNvPr>
          <p:cNvSpPr txBox="1"/>
          <p:nvPr/>
        </p:nvSpPr>
        <p:spPr>
          <a:xfrm>
            <a:off x="762000" y="923925"/>
            <a:ext cx="714458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Model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Matematis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: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Zatsepin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&amp; Shcherbinin</a:t>
            </a:r>
            <a:endParaRPr sz="2700" b="1" i="0" u="none" dirty="0">
              <a:solidFill>
                <a:srgbClr val="0F172A"/>
              </a:solidFill>
              <a:latin typeface="Lor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0DC57A2-0D81-B24C-D0D8-07C1EC15D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66968"/>
            <a:ext cx="4669536" cy="18967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1517E3-2188-DBD6-D554-1661899C5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76" y="3364992"/>
            <a:ext cx="10264647" cy="1093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B5192A-F00E-DC77-B502-C357D9866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45" y="5148072"/>
            <a:ext cx="5558575" cy="158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2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B8C5C-1C15-6DE2-A018-EFCE306C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A975C3-0297-5DA1-A10F-61925C927725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D2E64-5CE2-B44E-116E-3A1690725634}"/>
              </a:ext>
            </a:extLst>
          </p:cNvPr>
          <p:cNvSpPr txBox="1"/>
          <p:nvPr/>
        </p:nvSpPr>
        <p:spPr>
          <a:xfrm>
            <a:off x="762000" y="923925"/>
            <a:ext cx="714458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Model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Matematis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: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Zatsepin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&amp; Shcherbinin</a:t>
            </a:r>
            <a:endParaRPr sz="2700" b="1" i="0" u="none" dirty="0">
              <a:solidFill>
                <a:srgbClr val="0F172A"/>
              </a:solidFill>
              <a:latin typeface="Lor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65A070-02CE-2681-FFF0-F22C6795E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66968"/>
            <a:ext cx="4669536" cy="18967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4939EA-7C0E-31F5-60E0-1CA9139A6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521" y="3756165"/>
            <a:ext cx="8218957" cy="140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95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654D9-F0B4-4CDF-2DAD-B85E07025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5EBD09E-1610-8FAE-9E61-2F36F5889557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82698-C1CE-DEEC-4B23-0B1EF3E49C5E}"/>
              </a:ext>
            </a:extLst>
          </p:cNvPr>
          <p:cNvSpPr txBox="1"/>
          <p:nvPr/>
        </p:nvSpPr>
        <p:spPr>
          <a:xfrm>
            <a:off x="762000" y="923925"/>
            <a:ext cx="5450210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Pembacaan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Sensor dan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Orientasi</a:t>
            </a:r>
            <a:endParaRPr sz="2700" b="1" i="0" u="none" dirty="0">
              <a:solidFill>
                <a:srgbClr val="0F172A"/>
              </a:solidFill>
              <a:latin typeface="Lor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FFB8FF4-1E68-6AA0-419C-756E2FB60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1795234"/>
            <a:ext cx="7621064" cy="32675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D74CAB-F2D7-8820-B5F3-9F30F30DC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971" y="4650707"/>
            <a:ext cx="2701698" cy="174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146CB-9A61-7123-9D03-C8B9D191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4EA5E4-31D5-4498-CD8C-847CD8AAA537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8B6F2-C5B0-B62E-004E-DAF33192DED1}"/>
              </a:ext>
            </a:extLst>
          </p:cNvPr>
          <p:cNvSpPr txBox="1"/>
          <p:nvPr/>
        </p:nvSpPr>
        <p:spPr>
          <a:xfrm>
            <a:off x="762000" y="923925"/>
            <a:ext cx="691535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Pembacaan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Sensor: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Amplitudo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dan </a:t>
            </a:r>
            <a:r>
              <a:rPr lang="en-US" sz="2700" b="1" i="1" u="none" dirty="0">
                <a:solidFill>
                  <a:srgbClr val="0F172A"/>
                </a:solidFill>
                <a:latin typeface="Lora"/>
              </a:rPr>
              <a:t>lift-off</a:t>
            </a:r>
            <a:endParaRPr sz="2700" b="1" i="1" u="none" dirty="0">
              <a:solidFill>
                <a:srgbClr val="0F172A"/>
              </a:solidFill>
              <a:latin typeface="Lor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0D903-B2FE-508B-FA25-50C37E7D4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" y="2395722"/>
            <a:ext cx="4724409" cy="2834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CAE523-3D72-960E-7916-EDE8AFA6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95721"/>
            <a:ext cx="4724409" cy="283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1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0F841F-07D0-525B-AB23-7F6E5AB7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A9368B-1555-72C9-21C2-68F2F52226C4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4B06A-9E92-2855-D0C2-4B916F29326A}"/>
              </a:ext>
            </a:extLst>
          </p:cNvPr>
          <p:cNvSpPr txBox="1"/>
          <p:nvPr/>
        </p:nvSpPr>
        <p:spPr>
          <a:xfrm>
            <a:off x="762000" y="923925"/>
            <a:ext cx="691535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Pembacaan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Sensor: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Amplitudo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dan </a:t>
            </a:r>
            <a:r>
              <a:rPr lang="en-US" sz="2700" b="1" i="1" u="none" dirty="0">
                <a:solidFill>
                  <a:srgbClr val="0F172A"/>
                </a:solidFill>
                <a:latin typeface="Lora"/>
              </a:rPr>
              <a:t>lift-off</a:t>
            </a:r>
            <a:endParaRPr sz="2700" b="1" i="1" u="none" dirty="0">
              <a:solidFill>
                <a:srgbClr val="0F172A"/>
              </a:solidFill>
              <a:latin typeface="Lor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0FE9A6-5B89-7235-0109-EB9C4A90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1542"/>
            <a:ext cx="10164594" cy="1543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623AB3-D5E8-5C6C-9CFE-002AF207772B}"/>
              </a:ext>
            </a:extLst>
          </p:cNvPr>
          <p:cNvSpPr txBox="1"/>
          <p:nvPr/>
        </p:nvSpPr>
        <p:spPr>
          <a:xfrm>
            <a:off x="1381125" y="3752055"/>
            <a:ext cx="95454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membuktikan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variasi</a:t>
            </a:r>
            <a:r>
              <a:rPr lang="en-ID" dirty="0"/>
              <a:t> </a:t>
            </a:r>
            <a:r>
              <a:rPr lang="en-ID" i="1" dirty="0"/>
              <a:t>lift-off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b="1" dirty="0"/>
              <a:t>3 mm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inversi</a:t>
            </a:r>
            <a:r>
              <a:rPr lang="en-ID" dirty="0"/>
              <a:t>/</a:t>
            </a:r>
            <a:r>
              <a:rPr lang="en-ID" dirty="0" err="1"/>
              <a:t>filtrasi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i="1" dirty="0"/>
              <a:t>sizing bias</a:t>
            </a:r>
            <a:r>
              <a:rPr lang="en-ID" dirty="0"/>
              <a:t> (</a:t>
            </a:r>
            <a:r>
              <a:rPr lang="en-ID" dirty="0" err="1"/>
              <a:t>kesalahan</a:t>
            </a:r>
            <a:r>
              <a:rPr lang="en-ID" dirty="0"/>
              <a:t> fatal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memprediksi</a:t>
            </a:r>
            <a:r>
              <a:rPr lang="en-ID" dirty="0"/>
              <a:t> </a:t>
            </a:r>
            <a:r>
              <a:rPr lang="en-ID" dirty="0" err="1"/>
              <a:t>kedalaman</a:t>
            </a:r>
            <a:r>
              <a:rPr lang="en-ID" dirty="0"/>
              <a:t> </a:t>
            </a:r>
            <a:r>
              <a:rPr lang="en-ID" dirty="0" err="1"/>
              <a:t>retakan</a:t>
            </a:r>
            <a:r>
              <a:rPr lang="en-ID" dirty="0"/>
              <a:t>).</a:t>
            </a:r>
          </a:p>
          <a:p>
            <a:endParaRPr lang="en-ID" dirty="0"/>
          </a:p>
          <a:p>
            <a:r>
              <a:rPr lang="en-ID" dirty="0"/>
              <a:t>Liu dan Zhang (2022): </a:t>
            </a:r>
            <a:r>
              <a:rPr lang="en-ID" dirty="0" err="1"/>
              <a:t>ada</a:t>
            </a:r>
            <a:r>
              <a:rPr lang="en-ID" dirty="0"/>
              <a:t> Solusi </a:t>
            </a:r>
            <a:r>
              <a:rPr lang="en-ID" dirty="0" err="1"/>
              <a:t>pembacaan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akurat</a:t>
            </a:r>
            <a:r>
              <a:rPr lang="en-ID" dirty="0"/>
              <a:t> </a:t>
            </a:r>
            <a:r>
              <a:rPr lang="en-ID" dirty="0" err="1"/>
              <a:t>bila</a:t>
            </a:r>
            <a:r>
              <a:rPr lang="en-ID" dirty="0"/>
              <a:t> sensor lift </a:t>
            </a:r>
            <a:r>
              <a:rPr lang="en-ID" dirty="0" err="1"/>
              <a:t>diatas</a:t>
            </a:r>
            <a:r>
              <a:rPr lang="en-ID" dirty="0"/>
              <a:t> 3mm,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penguat</a:t>
            </a:r>
            <a:r>
              <a:rPr lang="en-ID" dirty="0"/>
              <a:t> pada </a:t>
            </a:r>
            <a:r>
              <a:rPr lang="en-ID" i="1" dirty="0"/>
              <a:t>Hardware</a:t>
            </a:r>
            <a:br>
              <a:rPr lang="en-ID" i="1" dirty="0"/>
            </a:br>
            <a:r>
              <a:rPr lang="en-ID" dirty="0">
                <a:hlinkClick r:id="rId3"/>
              </a:rPr>
              <a:t>https://doi.org/10.3390/app12104829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2120205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AE297-66DD-4F99-6D39-70918CF8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5B43CCC-0D30-DC43-78E6-4396F3B055BE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FC7A96-AF22-29E2-CE34-3EB095F2CF50}"/>
              </a:ext>
            </a:extLst>
          </p:cNvPr>
          <p:cNvSpPr txBox="1"/>
          <p:nvPr/>
        </p:nvSpPr>
        <p:spPr>
          <a:xfrm>
            <a:off x="762000" y="923925"/>
            <a:ext cx="5727530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Model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Matematis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Sistem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Bergerak</a:t>
            </a:r>
            <a:endParaRPr sz="2700" b="1" i="0" u="none" dirty="0">
              <a:solidFill>
                <a:srgbClr val="0F172A"/>
              </a:solidFill>
              <a:latin typeface="Lora"/>
            </a:endParaRPr>
          </a:p>
        </p:txBody>
      </p:sp>
    </p:spTree>
    <p:extLst>
      <p:ext uri="{BB962C8B-B14F-4D97-AF65-F5344CB8AC3E}">
        <p14:creationId xmlns:p14="http://schemas.microsoft.com/office/powerpoint/2010/main" val="2091004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10C97-6EBA-595E-7D9A-D70749A7C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5AB1876-99BB-E19C-EC2A-827E673C8C0A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37642-8AA6-DA78-73BF-2E175CE9DD86}"/>
              </a:ext>
            </a:extLst>
          </p:cNvPr>
          <p:cNvSpPr txBox="1"/>
          <p:nvPr/>
        </p:nvSpPr>
        <p:spPr>
          <a:xfrm>
            <a:off x="762000" y="923925"/>
            <a:ext cx="6697346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Pembacaan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Sensor: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Pengaruh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Kecepatan</a:t>
            </a:r>
            <a:endParaRPr sz="2700" b="1" i="0" u="none" dirty="0">
              <a:solidFill>
                <a:srgbClr val="0F172A"/>
              </a:solidFill>
              <a:latin typeface="Lor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3A6D48-C51E-6129-2E7A-07E2135EC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671" y="1334294"/>
            <a:ext cx="6930658" cy="4927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D6934B-1464-5CFD-F6C9-D9593447D4D5}"/>
              </a:ext>
            </a:extLst>
          </p:cNvPr>
          <p:cNvSpPr txBox="1"/>
          <p:nvPr/>
        </p:nvSpPr>
        <p:spPr>
          <a:xfrm>
            <a:off x="1524" y="6416729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[2] Wang, P., Gao, Y., Tian, G. and Wang, H., 2014. Velocity effect analysis of dynamic magnetization in high speed magnetic flux leakage inspection. NDT &amp; E International, 64, pp.7-12.</a:t>
            </a:r>
            <a:endParaRPr lang="en-ID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B8A69-C719-4E69-A6D6-93618C72AC83}"/>
              </a:ext>
            </a:extLst>
          </p:cNvPr>
          <p:cNvSpPr txBox="1"/>
          <p:nvPr/>
        </p:nvSpPr>
        <p:spPr>
          <a:xfrm>
            <a:off x="9561329" y="555955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[2]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54095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442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Inter</vt:lpstr>
      <vt:lpstr>Lora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Rahmansyah</cp:lastModifiedBy>
  <cp:revision>7</cp:revision>
  <dcterms:created xsi:type="dcterms:W3CDTF">2013-01-27T09:14:16Z</dcterms:created>
  <dcterms:modified xsi:type="dcterms:W3CDTF">2026-10-27T13:15:47Z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2026-10-10T13:40:49Z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6824ba6e-c5eb-4303-93c0-130ebf3ead0d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